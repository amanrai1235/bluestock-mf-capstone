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90E0E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90E0EF"/>
                </a:solidFill>
                <a:latin typeface="Arial"/>
              </a:rPr>
              <a:t>Investment by Joining Cohort (₹ Cr)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Investment (₹ Cr)</c:v>
                </c:pt>
              </c:strCache>
            </c:strRef>
          </c:tx>
          <c:spPr>
            <a:solidFill>
              <a:srgbClr val="0096C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</c:v>
                </c:pt>
                <c:pt idx="1">
                  <c:v>68</c:v>
                </c:pt>
                <c:pt idx="2">
                  <c:v>95</c:v>
                </c:pt>
                <c:pt idx="3">
                  <c:v>130</c:v>
                </c:pt>
                <c:pt idx="4">
                  <c:v>218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0E0E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D3E6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0E0E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E2A4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Investors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0B981"/>
              </a:solidFill>
              <a:effectLst/>
            </c:spPr>
          </c:dPt>
          <c:dPt>
            <c:idx val="1"/>
            <c:bubble3D val="0"/>
            <c:spPr>
              <a:solidFill>
                <a:srgbClr val="EF4444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Healthy Investors</c:v>
                </c:pt>
                <c:pt idx="1">
                  <c:v>At-Risk Investors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8094</c:v>
                </c:pt>
                <c:pt idx="1">
                  <c:v>3906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1F5F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657600" cy="3657600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-274320"/>
            <a:ext cx="2286000" cy="2286000"/>
          </a:xfrm>
          <a:prstGeom prst="ellipse">
            <a:avLst/>
          </a:prstGeom>
          <a:solidFill>
            <a:srgbClr val="90E0EF">
              <a:alpha val="30000"/>
            </a:srgbClr>
          </a:solidFill>
          <a:ln w="12700">
            <a:solidFill>
              <a:srgbClr val="90E0EF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3840480"/>
            <a:ext cx="3200400" cy="3200400"/>
          </a:xfrm>
          <a:prstGeom prst="ellipse">
            <a:avLst/>
          </a:prstGeom>
          <a:solidFill>
            <a:srgbClr val="0096C7">
              <a:alpha val="18000"/>
            </a:srgbClr>
          </a:solidFill>
          <a:ln w="12700">
            <a:solidFill>
              <a:srgbClr val="0096C7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Mutual Fund Analytics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90E0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&amp; Advanced Analytics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2176272"/>
            <a:ext cx="804672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42316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00B4D8">
              <a:alpha val="2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" y="24871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8368" y="281635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 Kumar Rai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383280" y="242316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00B4D8">
              <a:alpha val="2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93008" y="24871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93008" y="281635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Internship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17920" y="242316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00B4D8">
              <a:alpha val="2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27648" y="24871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27648" y="281635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42976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Insights · Risk Analytics · Investor Segmentation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93776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2344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🎯  Objective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691640"/>
            <a:ext cx="46634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mutual fund performance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track scheme-level returns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investor behavior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transaction patterns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risk exposure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VaR and CVaR metrics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investors into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vs At-Risk groups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0" y="1097280"/>
            <a:ext cx="3291840" cy="3474720"/>
          </a:xfrm>
          <a:prstGeom prst="roundRect">
            <a:avLst>
              <a:gd name="adj" fmla="val 3333"/>
            </a:avLst>
          </a:prstGeom>
          <a:solidFill>
            <a:srgbClr val="0D1B40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23560" y="12344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0E0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🛠  Tools Used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623560" y="1719072"/>
            <a:ext cx="2880360" cy="402336"/>
          </a:xfrm>
          <a:prstGeom prst="roundRect">
            <a:avLst>
              <a:gd name="adj" fmla="val 13636"/>
            </a:avLst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5715000" y="17373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23560" y="2231136"/>
            <a:ext cx="2880360" cy="402336"/>
          </a:xfrm>
          <a:prstGeom prst="roundRect">
            <a:avLst>
              <a:gd name="adj" fmla="val 13636"/>
            </a:avLst>
          </a:prstGeom>
          <a:solidFill>
            <a:srgbClr val="00B4D8">
              <a:alpha val="8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715000" y="224942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623560" y="2743200"/>
            <a:ext cx="2880360" cy="402336"/>
          </a:xfrm>
          <a:prstGeom prst="roundRect">
            <a:avLst>
              <a:gd name="adj" fmla="val 13636"/>
            </a:avLst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5715000" y="276148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623560" y="3255264"/>
            <a:ext cx="2880360" cy="402336"/>
          </a:xfrm>
          <a:prstGeom prst="roundRect">
            <a:avLst>
              <a:gd name="adj" fmla="val 13636"/>
            </a:avLst>
          </a:prstGeom>
          <a:solidFill>
            <a:srgbClr val="00B4D8">
              <a:alpha val="8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715000" y="327355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623560" y="3767328"/>
            <a:ext cx="2880360" cy="402336"/>
          </a:xfrm>
          <a:prstGeom prst="roundRect">
            <a:avLst>
              <a:gd name="adj" fmla="val 13636"/>
            </a:avLst>
          </a:prstGeom>
          <a:solidFill>
            <a:srgbClr val="00B4D8"/>
          </a:solidFill>
          <a:ln/>
        </p:spPr>
      </p:sp>
      <p:sp>
        <p:nvSpPr>
          <p:cNvPr id="18" name="Text 16"/>
          <p:cNvSpPr/>
          <p:nvPr/>
        </p:nvSpPr>
        <p:spPr>
          <a:xfrm>
            <a:off x="5715000" y="3785616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Information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2412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CSV Files — Complete Data Coverage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416052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" y="149961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Master Data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4048" y="176479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fund_master.csv · Scheme codes, names, fund house, categories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" y="2167128"/>
            <a:ext cx="416052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84048" y="220370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History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4048" y="24688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nav_history.csv · Daily NAV records per scheme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2871216"/>
            <a:ext cx="416052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84048" y="290779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Transactions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4048" y="31729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investor_transactions.csv · Buy/sell/SIP transaction logs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3575304"/>
            <a:ext cx="416052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84048" y="36118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Holdings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4048" y="387705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portfolio_holdings.csv · Asset-level holding percentages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4279392"/>
            <a:ext cx="416052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84048" y="43159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Indices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4048" y="458114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benchmark_indices.csv · Nifty 50, Sensex daily index values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1463040"/>
            <a:ext cx="416052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64608" y="149961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Records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64608" y="176479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sip_records.csv · SIP schedules and gap tracking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54880" y="2167128"/>
            <a:ext cx="416052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64608" y="220370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Profile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64608" y="24688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investor_profile.csv · Demographics and risk profile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2871216"/>
            <a:ext cx="416052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64608" y="290779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Data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64608" y="31729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returns_data.csv · 1Y / 3Y / 5Y scheme returns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3575304"/>
            <a:ext cx="416052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64608" y="36118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Ratio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64608" y="387705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expense_ratio.csv · TER and exit load metadata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54880" y="4279392"/>
            <a:ext cx="416052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864608" y="43159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 Data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64608" y="458114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aum_data.csv · Assets under management by scheme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Processing Pipeline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raw CSV data into analytics-ready datasets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801368" y="2560320"/>
            <a:ext cx="219456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325880"/>
            <a:ext cx="1481328" cy="3291840"/>
          </a:xfrm>
          <a:prstGeom prst="roundRect">
            <a:avLst>
              <a:gd name="adj" fmla="val 6173"/>
            </a:avLst>
          </a:prstGeom>
          <a:solidFill>
            <a:srgbClr val="00B4D8">
              <a:alpha val="20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389888"/>
            <a:ext cx="694944" cy="69494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417320"/>
            <a:ext cx="694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93192" y="2194560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93192" y="2761488"/>
            <a:ext cx="13350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duplicates, standardized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codes and scheme names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502152" y="2560320"/>
            <a:ext cx="219456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20824" y="1325880"/>
            <a:ext cx="1481328" cy="3291840"/>
          </a:xfrm>
          <a:prstGeom prst="roundRect">
            <a:avLst>
              <a:gd name="adj" fmla="val 6173"/>
            </a:avLst>
          </a:prstGeom>
          <a:solidFill>
            <a:srgbClr val="00B4D8">
              <a:alpha val="20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14016" y="1389888"/>
            <a:ext cx="694944" cy="69494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14016" y="1417320"/>
            <a:ext cx="694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093976" y="2194560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 Handling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93976" y="2761488"/>
            <a:ext cx="13350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Forward-fill for NAV gaps;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imputation for returns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202936" y="2560320"/>
            <a:ext cx="219456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21608" y="1325880"/>
            <a:ext cx="1481328" cy="3291840"/>
          </a:xfrm>
          <a:prstGeom prst="roundRect">
            <a:avLst>
              <a:gd name="adj" fmla="val 6173"/>
            </a:avLst>
          </a:prstGeom>
          <a:solidFill>
            <a:srgbClr val="00B4D8">
              <a:alpha val="20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14800" y="1389888"/>
            <a:ext cx="694944" cy="69494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0" y="1417320"/>
            <a:ext cx="694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794760" y="2194560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Conversion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794760" y="2761488"/>
            <a:ext cx="13350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Parsed all date fields 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datetime64 for time-series ops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903720" y="2560320"/>
            <a:ext cx="219456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22392" y="1325880"/>
            <a:ext cx="1481328" cy="3291840"/>
          </a:xfrm>
          <a:prstGeom prst="roundRect">
            <a:avLst>
              <a:gd name="adj" fmla="val 6173"/>
            </a:avLst>
          </a:prstGeom>
          <a:solidFill>
            <a:srgbClr val="00B4D8">
              <a:alpha val="20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815584" y="1389888"/>
            <a:ext cx="694944" cy="69494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15584" y="1417320"/>
            <a:ext cx="694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495544" y="2194560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95544" y="2761488"/>
            <a:ext cx="13350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returns, rolling metrics,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gap computation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123176" y="1325880"/>
            <a:ext cx="1481328" cy="3291840"/>
          </a:xfrm>
          <a:prstGeom prst="roundRect">
            <a:avLst>
              <a:gd name="adj" fmla="val 6173"/>
            </a:avLst>
          </a:prstGeom>
          <a:solidFill>
            <a:srgbClr val="00B4D8">
              <a:alpha val="20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516368" y="1389888"/>
            <a:ext cx="694944" cy="69494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16368" y="1417320"/>
            <a:ext cx="694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196328" y="2194560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Aggregation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196328" y="2761488"/>
            <a:ext cx="13350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Monthly/yearly rollups for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Cohort analysis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Dashboard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92608" y="1024128"/>
            <a:ext cx="5632704" cy="3730752"/>
          </a:xfrm>
          <a:prstGeom prst="roundRect">
            <a:avLst>
              <a:gd name="adj" fmla="val 245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5" name="Image 0" descr="/mnt/user-data/uploads/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47472" y="1078992"/>
            <a:ext cx="5522976" cy="36210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035040" y="1097280"/>
            <a:ext cx="28346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126480" y="114300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675120" y="113385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Performance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675120" y="1426464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trends, returns comparison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035040" y="1965960"/>
            <a:ext cx="28346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126480" y="201168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👤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675120" y="200253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Analytics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675120" y="2295144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&amp; behavior tracking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035040" y="2834640"/>
            <a:ext cx="28346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126480" y="288036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675120" y="287121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Comparison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675120" y="3163824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vs Nifty/Sensex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035040" y="3703320"/>
            <a:ext cx="28346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126480" y="374904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6675120" y="373989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Filters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675120" y="4032504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by fund, date, category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 &amp; CVaR Risk Analysis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at Risk · Conditional Value at Risk · 95% Confidence Level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316736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33502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05840" y="1261872"/>
            <a:ext cx="7772400" cy="713232"/>
          </a:xfrm>
          <a:prstGeom prst="roundRect">
            <a:avLst>
              <a:gd name="adj" fmla="val 10256"/>
            </a:avLst>
          </a:prstGeom>
          <a:solidFill>
            <a:srgbClr val="00B4D8">
              <a:alpha val="1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129844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Returns Calculated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143000" y="1581912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log-returns computed from NAV time series for all schemes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2185416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20370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005840" y="2130552"/>
            <a:ext cx="7772400" cy="713232"/>
          </a:xfrm>
          <a:prstGeom prst="roundRect">
            <a:avLst>
              <a:gd name="adj" fmla="val 10256"/>
            </a:avLst>
          </a:prstGeom>
          <a:solidFill>
            <a:srgbClr val="00B4D8">
              <a:alpha val="1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216712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VaR Computed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143000" y="2450592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Worst-case loss at 95th percentile using historical simulation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054096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07238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005840" y="2999232"/>
            <a:ext cx="7772400" cy="713232"/>
          </a:xfrm>
          <a:prstGeom prst="roundRect">
            <a:avLst>
              <a:gd name="adj" fmla="val 10256"/>
            </a:avLst>
          </a:prstGeom>
          <a:solidFill>
            <a:srgbClr val="00B4D8">
              <a:alpha val="1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143000" y="303580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CVaR Computed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143000" y="3319272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loss beyond VaR threshold — tail risk quantification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8412480" cy="868680"/>
          </a:xfrm>
          <a:prstGeom prst="roundRect">
            <a:avLst>
              <a:gd name="adj" fmla="val 10526"/>
            </a:avLst>
          </a:prstGeom>
          <a:solidFill>
            <a:srgbClr val="F59E0B">
              <a:alpha val="8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40050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 Key Finding: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43251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119599 showed the highest downside risk with maximum VaR and CVaR among all analyzed schemes.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Rolling Sharpe Ratio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92608" y="1024128"/>
            <a:ext cx="8558784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5" name="Image 0" descr="/mnt/user-data/uploads/rolling_sharpe_char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47472" y="1078992"/>
            <a:ext cx="8449056" cy="29992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0040" y="4206240"/>
            <a:ext cx="8503920" cy="685800"/>
          </a:xfrm>
          <a:prstGeom prst="roundRect">
            <a:avLst>
              <a:gd name="adj" fmla="val 10667"/>
            </a:avLst>
          </a:prstGeom>
          <a:solidFill>
            <a:srgbClr val="10B981">
              <a:alpha val="8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02920" y="42702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Key Finding: Several schemes achieved Rolling Sharpe Ratio &gt; 2, indicating strong risk-adjusted returns over the analysis period.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Cohort Analysis — Investor Joining Year</a:t>
            </a:r>
            <a:endParaRPr lang="en-US" sz="27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05840"/>
          <a:ext cx="51206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623560" y="1051560"/>
            <a:ext cx="3200400" cy="804672"/>
          </a:xfrm>
          <a:prstGeom prst="roundRect">
            <a:avLst>
              <a:gd name="adj" fmla="val 9091"/>
            </a:avLst>
          </a:prstGeom>
          <a:solidFill>
            <a:srgbClr val="00B4D8">
              <a:alpha val="18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715000" y="1161288"/>
            <a:ext cx="457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👥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217920" y="1143000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 grouped by year of first SIP / lump sum transaction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623560" y="2011680"/>
            <a:ext cx="3200400" cy="804672"/>
          </a:xfrm>
          <a:prstGeom prst="roundRect">
            <a:avLst>
              <a:gd name="adj" fmla="val 9091"/>
            </a:avLst>
          </a:prstGeom>
          <a:solidFill>
            <a:srgbClr val="00B4D8">
              <a:alpha val="18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5715000" y="2121408"/>
            <a:ext cx="457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📅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217920" y="2103120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comparison across 5 cohorts: 2020 – 2024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623560" y="2971800"/>
            <a:ext cx="3200400" cy="804672"/>
          </a:xfrm>
          <a:prstGeom prst="roundRect">
            <a:avLst>
              <a:gd name="adj" fmla="val 9091"/>
            </a:avLst>
          </a:prstGeom>
          <a:solidFill>
            <a:srgbClr val="00B4D8">
              <a:alpha val="18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5715000" y="3081528"/>
            <a:ext cx="457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217920" y="3063240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volume and retention rate tracked per cohort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65760" y="4498848"/>
            <a:ext cx="8412480" cy="457200"/>
          </a:xfrm>
          <a:prstGeom prst="roundRect">
            <a:avLst>
              <a:gd name="adj" fmla="val 16000"/>
            </a:avLst>
          </a:prstGeom>
          <a:solidFill>
            <a:srgbClr val="F59E0B">
              <a:alpha val="85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4535424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Key Finding: 2024 investors contributed the majority of total investments, reflecting strong recent growth in fund participation.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Investor Risk Segmentation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05840"/>
          <a:ext cx="43891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846320" y="1097280"/>
            <a:ext cx="39776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846320" y="1097280"/>
            <a:ext cx="3977640" cy="457200"/>
          </a:xfrm>
          <a:prstGeom prst="roundRect">
            <a:avLst>
              <a:gd name="adj" fmla="val 20000"/>
            </a:avLst>
          </a:prstGeom>
          <a:solidFill>
            <a:srgbClr val="10B981">
              <a:alpha val="80000"/>
            </a:srgbClr>
          </a:solidFill>
          <a:ln w="1270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983480" y="115214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Healthy Investors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0" y="11430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8,094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983480" y="16002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67.5%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5897880" y="1600200"/>
            <a:ext cx="2788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SIP contribution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≤ 35 days between SIPs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investment pattern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846320" y="3063240"/>
            <a:ext cx="39776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46320" y="3063240"/>
            <a:ext cx="3977640" cy="457200"/>
          </a:xfrm>
          <a:prstGeom prst="roundRect">
            <a:avLst>
              <a:gd name="adj" fmla="val 20000"/>
            </a:avLst>
          </a:prstGeom>
          <a:solidFill>
            <a:srgbClr val="EF4444">
              <a:alpha val="80000"/>
            </a:srgbClr>
          </a:solidFill>
          <a:ln w="12700">
            <a:solidFill>
              <a:srgbClr val="EF4444">
                <a:alpha val="5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83480" y="311810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At-Risk Investors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315200" y="31089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3,906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4983480" y="356616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32.5%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5897880" y="3566160"/>
            <a:ext cx="2788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gap &gt; 35 days detected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Irregular contribution patterns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for advisor intervention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274320" y="4626864"/>
            <a:ext cx="8595360" cy="384048"/>
          </a:xfrm>
          <a:prstGeom prst="roundRect">
            <a:avLst>
              <a:gd name="adj" fmla="val 16667"/>
            </a:avLst>
          </a:prstGeom>
          <a:solidFill>
            <a:srgbClr val="EF4444">
              <a:alpha val="80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457200" y="4663440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Key Finding: ~3,906 investors flagged as At-Risk due to SIP gaps exceeding 35 days — requiring targeted advisor outreach.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4114800" cy="411480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0096C7">
              <a:alpha val="18000"/>
            </a:srgbClr>
          </a:solidFill>
          <a:ln w="12700">
            <a:solidFill>
              <a:srgbClr val="0096C7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0E0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  Deliverables Completed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581912"/>
            <a:ext cx="320040" cy="3200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63624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1545336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Analysis — VaR &amp; CVaR across all schemes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148840"/>
            <a:ext cx="320040" cy="3200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130552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2112264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Segmentation — Healthy vs At-Risk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715768"/>
            <a:ext cx="320040" cy="3200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69748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267919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Engine — Personalized fund suggestions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282696"/>
            <a:ext cx="320040" cy="3200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264408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324612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— Interactive visual analytics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212080" y="960120"/>
            <a:ext cx="3611880" cy="3383280"/>
          </a:xfrm>
          <a:prstGeom prst="roundRect">
            <a:avLst>
              <a:gd name="adj" fmla="val 3243"/>
            </a:avLst>
          </a:prstGeom>
          <a:solidFill>
            <a:srgbClr val="00B4D8">
              <a:alpha val="20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349240" y="105156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0E0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🚀  Future Scope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349240" y="1554480"/>
            <a:ext cx="3337560" cy="566928"/>
          </a:xfrm>
          <a:prstGeom prst="roundRect">
            <a:avLst>
              <a:gd name="adj" fmla="val 11290"/>
            </a:avLst>
          </a:prstGeom>
          <a:solidFill>
            <a:srgbClr val="0D2137"/>
          </a:solidFill>
          <a:ln/>
        </p:spPr>
      </p:sp>
      <p:sp>
        <p:nvSpPr>
          <p:cNvPr id="22" name="Text 20"/>
          <p:cNvSpPr/>
          <p:nvPr/>
        </p:nvSpPr>
        <p:spPr>
          <a:xfrm>
            <a:off x="5440680" y="164592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📡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852160" y="1627632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NAV Integration via AMFI API feed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349240" y="2267712"/>
            <a:ext cx="3337560" cy="566928"/>
          </a:xfrm>
          <a:prstGeom prst="roundRect">
            <a:avLst>
              <a:gd name="adj" fmla="val 11290"/>
            </a:avLst>
          </a:prstGeom>
          <a:solidFill>
            <a:srgbClr val="0D2137"/>
          </a:solidFill>
          <a:ln/>
        </p:spPr>
      </p:sp>
      <p:sp>
        <p:nvSpPr>
          <p:cNvPr id="25" name="Text 23"/>
          <p:cNvSpPr/>
          <p:nvPr/>
        </p:nvSpPr>
        <p:spPr>
          <a:xfrm>
            <a:off x="5440680" y="2359152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🤖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852160" y="2340864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Recommendation System using collaborative filtering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349240" y="2980944"/>
            <a:ext cx="3337560" cy="566928"/>
          </a:xfrm>
          <a:prstGeom prst="roundRect">
            <a:avLst>
              <a:gd name="adj" fmla="val 11290"/>
            </a:avLst>
          </a:prstGeom>
          <a:solidFill>
            <a:srgbClr val="0D2137"/>
          </a:solidFill>
          <a:ln/>
        </p:spPr>
      </p:sp>
      <p:sp>
        <p:nvSpPr>
          <p:cNvPr id="28" name="Text 26"/>
          <p:cNvSpPr/>
          <p:nvPr/>
        </p:nvSpPr>
        <p:spPr>
          <a:xfrm>
            <a:off x="5440680" y="3072384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📱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852160" y="3054096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Mobile-friendly investor dashboard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349240" y="3694176"/>
            <a:ext cx="3337560" cy="566928"/>
          </a:xfrm>
          <a:prstGeom prst="roundRect">
            <a:avLst>
              <a:gd name="adj" fmla="val 11290"/>
            </a:avLst>
          </a:prstGeom>
          <a:solidFill>
            <a:srgbClr val="0D2137"/>
          </a:solidFill>
          <a:ln/>
        </p:spPr>
      </p:sp>
      <p:sp>
        <p:nvSpPr>
          <p:cNvPr id="31" name="Text 29"/>
          <p:cNvSpPr/>
          <p:nvPr/>
        </p:nvSpPr>
        <p:spPr>
          <a:xfrm>
            <a:off x="5440680" y="3785616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🔔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852160" y="376732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gap alert automation for at-risk investors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0096C7">
              <a:alpha val="80000"/>
            </a:srgbClr>
          </a:solidFill>
          <a:ln w="12700">
            <a:solidFill>
              <a:srgbClr val="0096C7">
                <a:alpha val="8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0" y="4663440"/>
            <a:ext cx="9144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 Kumar Rai  ·  Bluestock Internship  ·  Mutual Fund Analytics Project  ·  June 2025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Mutual Fund Analytics Dashboard</dc:title>
  <dc:subject>PptxGenJS Presentation</dc:subject>
  <dc:creator>Aman Kumar Rai</dc:creator>
  <cp:lastModifiedBy>Aman Kumar Rai</cp:lastModifiedBy>
  <cp:revision>1</cp:revision>
  <dcterms:created xsi:type="dcterms:W3CDTF">2026-06-10T06:58:44Z</dcterms:created>
  <dcterms:modified xsi:type="dcterms:W3CDTF">2026-06-10T06:58:44Z</dcterms:modified>
</cp:coreProperties>
</file>